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FUSION DENTAL OS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AI-Native Dental Operating System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DSOs and Private Practices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2423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Alexander V. Antipov, OMS  |  Founder &amp; CEO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Dental Implants  ·  Full Arch Center  ·  Galleria OMS  ·  CA Implant Clinic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3291840"/>
            <a:ext cx="1920240" cy="822960"/>
          </a:xfrm>
          <a:prstGeom prst="rect">
            <a:avLst/>
          </a:prstGeom>
          <a:solidFill>
            <a:srgbClr val="111535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337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$8.29B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37216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3291840"/>
            <a:ext cx="1920240" cy="822960"/>
          </a:xfrm>
          <a:prstGeom prst="rect">
            <a:avLst/>
          </a:prstGeom>
          <a:solidFill>
            <a:srgbClr val="111535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3337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51760" y="37216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Live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3291840"/>
            <a:ext cx="1920240" cy="822960"/>
          </a:xfrm>
          <a:prstGeom prst="rect">
            <a:avLst/>
          </a:prstGeom>
          <a:solidFill>
            <a:srgbClr val="111535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3337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HIPAA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00600" y="37216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3291840"/>
            <a:ext cx="1920240" cy="822960"/>
          </a:xfrm>
          <a:prstGeom prst="rect">
            <a:avLst/>
          </a:prstGeom>
          <a:solidFill>
            <a:srgbClr val="111535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3337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49440" y="37216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828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ACCREDITED INVESTORS ONLY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773168"/>
            <a:ext cx="841248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3816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Dental Practices Are Running on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Legacy Software Built in 2005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14800" cy="1298448"/>
          </a:xfrm>
          <a:prstGeom prst="roundRect">
            <a:avLst>
              <a:gd name="adj" fmla="val 5634"/>
            </a:avLst>
          </a:prstGeom>
          <a:solidFill>
            <a:srgbClr val="111535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270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70432" y="1527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Fragmented workflows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8288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PMS, billing, insurance, scheduling, and patient comms are siloed across 4–6 separate tools with no intelligence layer.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417320"/>
            <a:ext cx="4114800" cy="1298448"/>
          </a:xfrm>
          <a:prstGeom prst="roundRect">
            <a:avLst>
              <a:gd name="adj" fmla="val 5634"/>
            </a:avLst>
          </a:prstGeom>
          <a:solidFill>
            <a:srgbClr val="111535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5270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513832" y="1527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leakage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13832" y="18288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of dental claims are denied on first submission. Manual follow-up costs $25–$118 per claim. The average DSO leaks $400K/yr.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62072"/>
            <a:ext cx="4114800" cy="1298448"/>
          </a:xfrm>
          <a:prstGeom prst="roundRect">
            <a:avLst>
              <a:gd name="adj" fmla="val 5634"/>
            </a:avLst>
          </a:prstGeom>
          <a:solidFill>
            <a:srgbClr val="111535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971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170432" y="2971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AI — anywhere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327355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Dentrix, Eaglesoft, and Curve Dental have zero autonomous agents. Every task is manual, every insight is backward-looking.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862072"/>
            <a:ext cx="4114800" cy="1298448"/>
          </a:xfrm>
          <a:prstGeom prst="roundRect">
            <a:avLst>
              <a:gd name="adj" fmla="val 5634"/>
            </a:avLst>
          </a:prstGeom>
          <a:solidFill>
            <a:srgbClr val="111535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2971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513832" y="2971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DSO scaling is broken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13832" y="327355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location requires months of IT setup, manual staff training, and data migration — no self-serve onboarding exists.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ADA Health Policy Institute 2024, McKinsey Global Institute, MGMA Dental Revenue Cycle Report 2025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773168"/>
            <a:ext cx="841248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3816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$8.29B Dental Software Market — Ripe for Disruption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51760" cy="3566160"/>
          </a:xfrm>
          <a:prstGeom prst="rect">
            <a:avLst/>
          </a:prstGeom>
          <a:solidFill>
            <a:srgbClr val="111535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$8.29B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→ 2032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560320"/>
            <a:ext cx="219456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249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$4.12B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96265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market size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31638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16.3%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34015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through 2032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36027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185,000+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dental practices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4041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12,000+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2793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DSO-affiliated locations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37560" y="1051560"/>
            <a:ext cx="5532120" cy="777240"/>
          </a:xfrm>
          <a:prstGeom prst="roundRect">
            <a:avLst>
              <a:gd name="adj" fmla="val 9412"/>
            </a:avLst>
          </a:prstGeom>
          <a:solidFill>
            <a:srgbClr val="111535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24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480560" y="11247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DSO Enterprise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80560" y="1399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groups, 10–500+ chairs. Highest LTV.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37560" y="1938528"/>
            <a:ext cx="5532120" cy="777240"/>
          </a:xfrm>
          <a:prstGeom prst="roundRect">
            <a:avLst>
              <a:gd name="adj" fmla="val 9412"/>
            </a:avLst>
          </a:prstGeom>
          <a:solidFill>
            <a:srgbClr val="111535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480560" y="20116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 Practices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80560" y="22860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3–10 location private groups scaling toward DSO.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37560" y="2825496"/>
            <a:ext cx="5532120" cy="777240"/>
          </a:xfrm>
          <a:prstGeom prst="roundRect">
            <a:avLst>
              <a:gd name="adj" fmla="val 9412"/>
            </a:avLst>
          </a:prstGeom>
          <a:solidFill>
            <a:srgbClr val="111535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8986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22%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480560" y="28986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Solo / Boutique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80560" y="31729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Single-location high-revenue implant specialists.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37560" y="3712464"/>
            <a:ext cx="5532120" cy="777240"/>
          </a:xfrm>
          <a:prstGeom prst="roundRect">
            <a:avLst>
              <a:gd name="adj" fmla="val 9412"/>
            </a:avLst>
          </a:prstGeom>
          <a:solidFill>
            <a:srgbClr val="111535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378561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480560" y="37856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Implant Networks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480560" y="4059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&amp; referral networks (Smile Again, etc.).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Grand View Research Dental Software Market 2024, ADA Practice Profiles, DSO Research Collaborative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773168"/>
            <a:ext cx="841248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3816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Fusion Dental OS — One Platform. Five AI Agents.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Self-Improving Every Night.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74720" y="1234440"/>
            <a:ext cx="2194560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30759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FUSION DENTAL 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148840"/>
            <a:ext cx="1572768" cy="1481328"/>
          </a:xfrm>
          <a:prstGeom prst="roundRect">
            <a:avLst>
              <a:gd name="adj" fmla="val 4321"/>
            </a:avLst>
          </a:prstGeom>
          <a:solidFill>
            <a:srgbClr val="111535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Coordinator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" y="2770632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case acceptance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drafts follow-ups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01952" y="2148840"/>
            <a:ext cx="1572768" cy="1481328"/>
          </a:xfrm>
          <a:prstGeom prst="roundRect">
            <a:avLst>
              <a:gd name="adj" fmla="val 4321"/>
            </a:avLst>
          </a:prstGeom>
          <a:solidFill>
            <a:srgbClr val="111535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56816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Eligibility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56816" y="2770632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insurance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+ prior auth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29584" y="2148840"/>
            <a:ext cx="1572768" cy="1481328"/>
          </a:xfrm>
          <a:prstGeom prst="roundRect">
            <a:avLst>
              <a:gd name="adj" fmla="val 4321"/>
            </a:avLst>
          </a:prstGeom>
          <a:solidFill>
            <a:srgbClr val="111535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4448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84448" y="2770632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plan creation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57216" y="2148840"/>
            <a:ext cx="1572768" cy="1481328"/>
          </a:xfrm>
          <a:prstGeom prst="roundRect">
            <a:avLst>
              <a:gd name="adj" fmla="val 4321"/>
            </a:avLst>
          </a:prstGeom>
          <a:solidFill>
            <a:srgbClr val="111535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2770632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chair utilization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booking optimization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84848" y="2148840"/>
            <a:ext cx="1572768" cy="1481328"/>
          </a:xfrm>
          <a:prstGeom prst="roundRect">
            <a:avLst>
              <a:gd name="adj" fmla="val 4321"/>
            </a:avLst>
          </a:prstGeom>
          <a:solidFill>
            <a:srgbClr val="111535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9712" y="2240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Fraud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39712" y="2770632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7-rule billing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749040"/>
            <a:ext cx="1572768" cy="685800"/>
          </a:xfrm>
          <a:prstGeom prst="rect">
            <a:avLst/>
          </a:prstGeom>
          <a:solidFill>
            <a:srgbClr val="1A2044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79476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Audit Trail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(§164.312b)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956816" y="3749040"/>
            <a:ext cx="1572768" cy="685800"/>
          </a:xfrm>
          <a:prstGeom prst="rect">
            <a:avLst/>
          </a:prstGeom>
          <a:solidFill>
            <a:srgbClr val="1A2044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02536" y="379476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 Self-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Wiki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39312" y="3749040"/>
            <a:ext cx="1572768" cy="685800"/>
          </a:xfrm>
          <a:prstGeom prst="rect">
            <a:avLst/>
          </a:prstGeom>
          <a:solidFill>
            <a:srgbClr val="1A2044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85032" y="379476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DatabaseAdapter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21808" y="3749040"/>
            <a:ext cx="1572768" cy="685800"/>
          </a:xfrm>
          <a:prstGeom prst="rect">
            <a:avLst/>
          </a:prstGeom>
          <a:solidFill>
            <a:srgbClr val="1A2044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67528" y="379476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 Onboarding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004304" y="3749040"/>
            <a:ext cx="1572768" cy="685800"/>
          </a:xfrm>
          <a:prstGeom prst="rect">
            <a:avLst/>
          </a:prstGeom>
          <a:solidFill>
            <a:srgbClr val="1A2044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50024" y="379476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 Analytics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773168"/>
            <a:ext cx="841248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3816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MOAT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Moats That Take 3+ Years to Replicate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114800" cy="1664208"/>
          </a:xfrm>
          <a:prstGeom prst="roundRect">
            <a:avLst>
              <a:gd name="adj" fmla="val 4396"/>
            </a:avLst>
          </a:prstGeom>
          <a:solidFill>
            <a:srgbClr val="111535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143000"/>
            <a:ext cx="45720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2344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Karpathy Self-Improving Wiki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1792" y="152704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compounds nightly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1746504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run ingests findings into a 144-wikilink knowledge graph (Karpathy Rules I–IX). The system literally gets smarter every night — clinical protocols, fraud patterns, insurance rules — without any human intervention. Competitors cannot replicate this without years of clinical data.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051560"/>
            <a:ext cx="4114800" cy="1664208"/>
          </a:xfrm>
          <a:prstGeom prst="roundRect">
            <a:avLst>
              <a:gd name="adj" fmla="val 4396"/>
            </a:avLst>
          </a:prstGeom>
          <a:solidFill>
            <a:srgbClr val="111535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65192" y="1143000"/>
            <a:ext cx="45720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12344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Universal DatabaseAdapter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65192" y="152704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any DSO database in one command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65192" y="1746504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strict HIPAA-compliant abstraction layer lets Western Dental, ClearChoice, Novia, or any DSO plug in their database via one adapter. No custom integrations per customer. Vendor lock-out is impossible — we lock in the intelligence, not the data.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4114800" cy="1664208"/>
          </a:xfrm>
          <a:prstGeom prst="roundRect">
            <a:avLst>
              <a:gd name="adj" fmla="val 4396"/>
            </a:avLst>
          </a:prstGeom>
          <a:solidFill>
            <a:srgbClr val="111535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2926080"/>
            <a:ext cx="45720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0175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Clinical Domain Training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1792" y="331012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an OMS surgeon, not a software engineer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" y="3529584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rule, every CDT code logic, every insurance workflow was designed by Dr. Antipov — a practicing OMS. The fraud detection rules (D6010 unbundling, phantom patients, impossible-day detection) come from real clinical patterns, not scraped docs.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834640"/>
            <a:ext cx="4114800" cy="1664208"/>
          </a:xfrm>
          <a:prstGeom prst="roundRect">
            <a:avLst>
              <a:gd name="adj" fmla="val 4396"/>
            </a:avLst>
          </a:prstGeom>
          <a:solidFill>
            <a:srgbClr val="111535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65192" y="2926080"/>
            <a:ext cx="45720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30175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Nightly Orchestration Loop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965192" y="331012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in sequence, not isolation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65192" y="3529584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TreatmentCoordinator feeds SchedulingAgent. EligibilityAgent feeds CollectionsAgent. FraudDetection feeds the audit trail. This multi-agent feedback loop produces insights no single-agent system can generate. Each night the system refines its own scoring models.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773168"/>
            <a:ext cx="841248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3816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CYCLE AUTOMATION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Dollar Tracked. Every Claim Optimized. Every Patient Followed Up.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2606040" cy="1261872"/>
          </a:xfrm>
          <a:prstGeom prst="roundRect">
            <a:avLst>
              <a:gd name="adj" fmla="val 5797"/>
            </a:avLst>
          </a:prstGeom>
          <a:solidFill>
            <a:srgbClr val="111535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94.3%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Collection 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7510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B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68% industry avg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078992"/>
            <a:ext cx="2606040" cy="1261872"/>
          </a:xfrm>
          <a:prstGeom prst="roundRect">
            <a:avLst>
              <a:gd name="adj" fmla="val 5797"/>
            </a:avLst>
          </a:prstGeom>
          <a:solidFill>
            <a:srgbClr val="111535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430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$24.5K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291840" y="17373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Case Value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97510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B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Full-arch all-on-4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078992"/>
            <a:ext cx="2606040" cy="1261872"/>
          </a:xfrm>
          <a:prstGeom prst="roundRect">
            <a:avLst>
              <a:gd name="adj" fmla="val 5797"/>
            </a:avLst>
          </a:prstGeom>
          <a:solidFill>
            <a:srgbClr val="111535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1430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&lt;2 min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126480" y="17373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Eligibility Check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197510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B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48h manual process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1572768" cy="384048"/>
          </a:xfrm>
          <a:prstGeom prst="rect">
            <a:avLst/>
          </a:prstGeom>
          <a:solidFill>
            <a:srgbClr val="1A2044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328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Benefits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292608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Availity / Change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API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57400" y="2651760"/>
            <a:ext cx="9144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76272" y="2514600"/>
            <a:ext cx="1572768" cy="384048"/>
          </a:xfrm>
          <a:prstGeom prst="rect">
            <a:avLst/>
          </a:prstGeom>
          <a:solidFill>
            <a:srgbClr val="1A2044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76272" y="25328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Prior Auth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Submission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76272" y="292608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Auto-submit with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codes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776472" y="2651760"/>
            <a:ext cx="9144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95344" y="2514600"/>
            <a:ext cx="1572768" cy="384048"/>
          </a:xfrm>
          <a:prstGeom prst="rect">
            <a:avLst/>
          </a:prstGeom>
          <a:solidFill>
            <a:srgbClr val="1A2044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95344" y="25328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Claim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95344" y="292608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CDT codes auto-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by AI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95544" y="2651760"/>
            <a:ext cx="9144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14416" y="2514600"/>
            <a:ext cx="1572768" cy="384048"/>
          </a:xfrm>
          <a:prstGeom prst="rect">
            <a:avLst/>
          </a:prstGeom>
          <a:solidFill>
            <a:srgbClr val="1A2044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14416" y="25328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Fraud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14416" y="292608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rules checked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submission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214616" y="2651760"/>
            <a:ext cx="9144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33488" y="2514600"/>
            <a:ext cx="1572768" cy="384048"/>
          </a:xfrm>
          <a:prstGeom prst="rect">
            <a:avLst/>
          </a:prstGeom>
          <a:solidFill>
            <a:srgbClr val="1A2044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33488" y="25328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Collections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Follow-up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333488" y="292608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Risk-scored, auto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plans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7200" y="34930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$400K+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457200" y="3913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leakage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per DSO location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606040" y="34930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312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2606040" y="3913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Implants placed MTD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 locations)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54880" y="34930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4754880" y="3913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DSO locations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current simulation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03720" y="34930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6903720" y="3913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flags missed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(7-rule detection)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MGMA Revenue Cycle Report 2025, ADA Dental Insurance Survey, Fusion Dental OS live simulation data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773168"/>
            <a:ext cx="841248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3816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the Only Full-Stack AI-Native Dental OS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00200"/>
                <a:gridCol w="1600200"/>
                <a:gridCol w="160020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 Dental 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Dentrix / Eaglesoft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AI (Isaac)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Planet DDS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B91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autonomous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5 live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C9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1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1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waitlist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3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B91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Self-improving knowledge 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Karpathy wiki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C9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B91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insurance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Availity + 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C9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manual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1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manual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3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B91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7-rule fraud detection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auto GitHub issue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C9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B91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Universal DSO adapter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any database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C9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proprietary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3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B91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HIPAA audit trail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§164.312(b)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C9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1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1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1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B91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Multi-tenant onboarding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self-serve 4-step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C9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manual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manual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manual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3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B91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Nightly orchestration loop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0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5-agent sequence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C9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0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4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Trust AI press release June 2025 ($6.5M seed), Planet DDS DentalOS AI launch Feb 2026 (waitlist), company research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773168"/>
            <a:ext cx="841248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3816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SaaS + Usage + Services — Three Revenue Streams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51760" cy="3337560"/>
          </a:xfrm>
          <a:prstGeom prst="roundRect">
            <a:avLst>
              <a:gd name="adj" fmla="val 2759"/>
            </a:avLst>
          </a:prstGeom>
          <a:solidFill>
            <a:srgbClr val="111535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$499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1993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 per location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2258568"/>
            <a:ext cx="210312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774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AI agents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EHR integration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Basic analytics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Email support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1330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&amp; boutique practices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91840" y="1005840"/>
            <a:ext cx="2651760" cy="3337560"/>
          </a:xfrm>
          <a:prstGeom prst="roundRect">
            <a:avLst>
              <a:gd name="adj" fmla="val 2759"/>
            </a:avLst>
          </a:prstGeom>
          <a:solidFill>
            <a:srgbClr val="111535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1005840"/>
            <a:ext cx="2651760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0241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1444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DSO Pro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83280" y="18105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$1,499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3383280" y="23225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 per location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566160" y="2587752"/>
            <a:ext cx="210312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7066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All 5 AI agents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0" y="29809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Full RCM automation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0" y="32552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Fraud detection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0" y="35295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Slack briefings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0" y="38039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DSO Analytics API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41330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practices &amp; DSOs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26480" y="1005840"/>
            <a:ext cx="2651760" cy="3337560"/>
          </a:xfrm>
          <a:prstGeom prst="roundRect">
            <a:avLst>
              <a:gd name="adj" fmla="val 2759"/>
            </a:avLst>
          </a:prstGeom>
          <a:solidFill>
            <a:srgbClr val="111535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11155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217920" y="14813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6217920" y="1993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0" y="2258568"/>
            <a:ext cx="210312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23774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White-label option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9360" y="26517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Custom agents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29260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SLA 99.9%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3200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Dedicated CSM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09360" y="34747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On-prem HIPAA option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41330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DSOs (50+ locations)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7200" y="44439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Usage revenue: $0.05/eligibility check · $0.10/prior auth · $2.50/fraud flag reviewed  |  + Implementation: $5K–$50K per DSO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773168"/>
            <a:ext cx="841248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38160" y="4828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ROADMAP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in Weeks. Ready to Scale Today.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solidFill>
            <a:srgbClr val="111535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15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25 GitHub PRs merged — production codebase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1755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AI agents live (Treatment, Collections, Scheduling,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Eligibility, Fraud)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066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HIPAA audit trail §164.312(b) implemented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Karpathy wiki: 144 wikilinks, 18 pages, 0 orphans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6883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Nightly lint cron → Slack #fullarch-crm alerts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Multi-tenant DSO onboarding wizard live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310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DSO Analytics API: 5 endpoints, 5-min cache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3621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Communication Hub: 8 patient message triggers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fullarch-dso.pplx.app — investor demo live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4242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Universal DatabaseAdapter (Fusion, Western, ClearChoice)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17720" y="1051560"/>
            <a:ext cx="4251960" cy="786384"/>
          </a:xfrm>
          <a:prstGeom prst="rect">
            <a:avLst/>
          </a:prstGeom>
          <a:solidFill>
            <a:srgbClr val="111535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1051560"/>
            <a:ext cx="960120" cy="786384"/>
          </a:xfrm>
          <a:prstGeom prst="rect">
            <a:avLst/>
          </a:prstGeom>
          <a:solidFill>
            <a:srgbClr val="1A2044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116128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1106424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3 DSO groups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 launch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SMS/email delivery integration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1947672"/>
            <a:ext cx="4251960" cy="786384"/>
          </a:xfrm>
          <a:prstGeom prst="rect">
            <a:avLst/>
          </a:prstGeom>
          <a:solidFill>
            <a:srgbClr val="111535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1947672"/>
            <a:ext cx="960120" cy="786384"/>
          </a:xfrm>
          <a:prstGeom prst="rect">
            <a:avLst/>
          </a:prstGeom>
          <a:solidFill>
            <a:srgbClr val="1A2044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205740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9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 2026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2002536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raise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50-location DSO onboarded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RevenueGuard™ AI billing suite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0" y="2843784"/>
            <a:ext cx="4251960" cy="786384"/>
          </a:xfrm>
          <a:prstGeom prst="rect">
            <a:avLst/>
          </a:prstGeom>
          <a:solidFill>
            <a:srgbClr val="111535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2843784"/>
            <a:ext cx="960120" cy="786384"/>
          </a:xfrm>
          <a:prstGeom prst="rect">
            <a:avLst/>
          </a:prstGeom>
          <a:solidFill>
            <a:srgbClr val="1A2044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2953512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1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2027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2898648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for DSO brands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Availity + Waystar integration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500-location milestone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17720" y="3739896"/>
            <a:ext cx="4251960" cy="786384"/>
          </a:xfrm>
          <a:prstGeom prst="rect">
            <a:avLst/>
          </a:prstGeom>
          <a:solidFill>
            <a:srgbClr val="111535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3739896"/>
            <a:ext cx="960120" cy="786384"/>
          </a:xfrm>
          <a:prstGeom prst="rect">
            <a:avLst/>
          </a:prstGeom>
          <a:solidFill>
            <a:srgbClr val="1A2044"/>
          </a:solidFill>
          <a:ln w="12700">
            <a:solidFill>
              <a:srgbClr val="2A30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849624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0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2027+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0" y="3794760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IPO-readiness program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DSO expansion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Dental network effect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023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 Us in Building the Future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Dental Care Delivery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286000" y="1664208"/>
            <a:ext cx="4572000" cy="1234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17556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RAISING $3.5M SEED ROUND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0" y="2194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investors · Strategic DSO partners · Health-tech angels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24505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· Pro-rata rights · Board observer seat available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05840" y="309067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05840" y="35661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AI R&amp;D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309067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834640" y="35661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 Pilots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309067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63440" y="35661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HIPAA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309067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92240" y="35661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G&amp;A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078224"/>
            <a:ext cx="822960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879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Dr. Alexander V. Antipov, OMS  |  Founder &amp; CEO  |  Fusion Dental 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4805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fullarch-dso.pplx.app  ·  fullarch-onboard.pplx.app  ·  github.com/alexanderantipov1/full-arch-crm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ACCREDITED INVESTORS ONLY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Fusion Dental 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Investor Pitch Deck 2026</dc:subject>
  <dc:creator>Fusion Dental OS</dc:creator>
  <cp:lastModifiedBy>Fusion Dental OS</cp:lastModifiedBy>
  <cp:revision>1</cp:revision>
  <dcterms:created xsi:type="dcterms:W3CDTF">2026-06-28T00:05:06Z</dcterms:created>
  <dcterms:modified xsi:type="dcterms:W3CDTF">2026-06-28T00:05:06Z</dcterms:modified>
</cp:coreProperties>
</file>